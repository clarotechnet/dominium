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d3f2325ce54e8b" /><Relationship Type="http://schemas.openxmlformats.org/officeDocument/2006/relationships/extended-properties" Target="/docProps/app.xml" Id="Ra53f1c8f42724045" /><Relationship Type="http://schemas.openxmlformats.org/officeDocument/2006/relationships/officeDocument" Target="/ppt/presentation.xml" Id="Rbece7c44b5124a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86f3d9215547de"/>
  </p:sldMasterIdLst>
  <p:notesMasterIdLst>
    <p:notesMasterId xmlns:r="http://schemas.openxmlformats.org/officeDocument/2006/relationships" r:id="R18b98f0659b24ac3"/>
  </p:notesMasterIdLst>
  <p:sldIdLst>
    <p:sldId xmlns:r="http://schemas.openxmlformats.org/officeDocument/2006/relationships" id="256" r:id="Rf12bb9bea73f45dc"/>
    <p:sldId xmlns:r="http://schemas.openxmlformats.org/officeDocument/2006/relationships" id="257" r:id="Rccd8cc6ea3264d04"/>
    <p:sldId xmlns:r="http://schemas.openxmlformats.org/officeDocument/2006/relationships" id="258" r:id="Ra326258e5de244f5"/>
    <p:sldId xmlns:r="http://schemas.openxmlformats.org/officeDocument/2006/relationships" id="259" r:id="R5b3658dfb10c445c"/>
    <p:sldId xmlns:r="http://schemas.openxmlformats.org/officeDocument/2006/relationships" id="260" r:id="R9edef8dd41e54ab7"/>
    <p:sldId xmlns:r="http://schemas.openxmlformats.org/officeDocument/2006/relationships" id="261" r:id="R76b6de29c18b4bd9"/>
    <p:sldId xmlns:r="http://schemas.openxmlformats.org/officeDocument/2006/relationships" id="262" r:id="R0328bf2672104675"/>
    <p:sldId xmlns:r="http://schemas.openxmlformats.org/officeDocument/2006/relationships" id="263" r:id="Rf380d8c2bf8a4b47"/>
    <p:sldId xmlns:r="http://schemas.openxmlformats.org/officeDocument/2006/relationships" id="264" r:id="R47c70ac238f4466a"/>
    <p:sldId xmlns:r="http://schemas.openxmlformats.org/officeDocument/2006/relationships" id="265" r:id="R1fb4bf88d0264a98"/>
    <p:sldId xmlns:r="http://schemas.openxmlformats.org/officeDocument/2006/relationships" id="266" r:id="R4da58aa9a73a4f4a"/>
    <p:sldId xmlns:r="http://schemas.openxmlformats.org/officeDocument/2006/relationships" id="267" r:id="R7258d220f21942d6"/>
    <p:sldId xmlns:r="http://schemas.openxmlformats.org/officeDocument/2006/relationships" id="268" r:id="R040e9563018846ba"/>
    <p:sldId xmlns:r="http://schemas.openxmlformats.org/officeDocument/2006/relationships" id="269" r:id="Rf199e79149254c0c"/>
    <p:sldId xmlns:r="http://schemas.openxmlformats.org/officeDocument/2006/relationships" id="270" r:id="R6218bf9981534e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8d3eeaec3c4d89" /><Relationship Type="http://schemas.openxmlformats.org/officeDocument/2006/relationships/slideMaster" Target="/ppt/slideMasters/slideMaster1.xml" Id="Rb786f3d9215547de" /><Relationship Type="http://schemas.openxmlformats.org/officeDocument/2006/relationships/notesMaster" Target="/ppt/notesMasters/notesMaster1.xml" Id="R18b98f0659b24ac3" /><Relationship Type="http://schemas.openxmlformats.org/officeDocument/2006/relationships/presProps" Target="/ppt/presProps.xml" Id="Rced9f65a4d274993" /><Relationship Type="http://schemas.openxmlformats.org/officeDocument/2006/relationships/tableStyles" Target="/ppt/tableStyles.xml" Id="Ra0e061a7bb6d4499" /><Relationship Type="http://schemas.openxmlformats.org/officeDocument/2006/relationships/slide" Target="/ppt/slides/slide1.xml" Id="Rf12bb9bea73f45dc" /><Relationship Type="http://schemas.openxmlformats.org/officeDocument/2006/relationships/slide" Target="/ppt/slides/slide2.xml" Id="Rccd8cc6ea3264d04" /><Relationship Type="http://schemas.openxmlformats.org/officeDocument/2006/relationships/slide" Target="/ppt/slides/slide3.xml" Id="Ra326258e5de244f5" /><Relationship Type="http://schemas.openxmlformats.org/officeDocument/2006/relationships/slide" Target="/ppt/slides/slide4.xml" Id="R5b3658dfb10c445c" /><Relationship Type="http://schemas.openxmlformats.org/officeDocument/2006/relationships/slide" Target="/ppt/slides/slide5.xml" Id="R9edef8dd41e54ab7" /><Relationship Type="http://schemas.openxmlformats.org/officeDocument/2006/relationships/slide" Target="/ppt/slides/slide6.xml" Id="R76b6de29c18b4bd9" /><Relationship Type="http://schemas.openxmlformats.org/officeDocument/2006/relationships/slide" Target="/ppt/slides/slide7.xml" Id="R0328bf2672104675" /><Relationship Type="http://schemas.openxmlformats.org/officeDocument/2006/relationships/slide" Target="/ppt/slides/slide8.xml" Id="Rf380d8c2bf8a4b47" /><Relationship Type="http://schemas.openxmlformats.org/officeDocument/2006/relationships/slide" Target="/ppt/slides/slide9.xml" Id="R47c70ac238f4466a" /><Relationship Type="http://schemas.openxmlformats.org/officeDocument/2006/relationships/slide" Target="/ppt/slides/slide10.xml" Id="R1fb4bf88d0264a98" /><Relationship Type="http://schemas.openxmlformats.org/officeDocument/2006/relationships/slide" Target="/ppt/slides/slide11.xml" Id="R4da58aa9a73a4f4a" /><Relationship Type="http://schemas.openxmlformats.org/officeDocument/2006/relationships/slide" Target="/ppt/slides/slide12.xml" Id="R7258d220f21942d6" /><Relationship Type="http://schemas.openxmlformats.org/officeDocument/2006/relationships/slide" Target="/ppt/slides/slide13.xml" Id="R040e9563018846ba" /><Relationship Type="http://schemas.openxmlformats.org/officeDocument/2006/relationships/slide" Target="/ppt/slides/slide14.xml" Id="Rf199e79149254c0c" /><Relationship Type="http://schemas.openxmlformats.org/officeDocument/2006/relationships/slide" Target="/ppt/slides/slide15.xml" Id="R6218bf9981534e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23350350a64d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fd9b7d6a9842b3" /><Relationship Type="http://schemas.openxmlformats.org/officeDocument/2006/relationships/notesMaster" Target="/ppt/notesMasters/notesMaster1.xml" Id="R0fbb5b3b45d640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2679d10e8c4ac3" /><Relationship Type="http://schemas.openxmlformats.org/officeDocument/2006/relationships/notesMaster" Target="/ppt/notesMasters/notesMaster1.xml" Id="R1d1ddc63acfb45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847ccbe2bc490f" /><Relationship Type="http://schemas.openxmlformats.org/officeDocument/2006/relationships/notesMaster" Target="/ppt/notesMasters/notesMaster1.xml" Id="Rb002d86c0d1f43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bd7cf543e54d96" /><Relationship Type="http://schemas.openxmlformats.org/officeDocument/2006/relationships/notesMaster" Target="/ppt/notesMasters/notesMaster1.xml" Id="Rffded9c306bf47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e6d3b4f59a4633" /><Relationship Type="http://schemas.openxmlformats.org/officeDocument/2006/relationships/notesMaster" Target="/ppt/notesMasters/notesMaster1.xml" Id="R36426df92b7145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ec5749c5f440f4" /><Relationship Type="http://schemas.openxmlformats.org/officeDocument/2006/relationships/notesMaster" Target="/ppt/notesMasters/notesMaster1.xml" Id="R546c850a9cf249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a41b20ee4d4dd8" /><Relationship Type="http://schemas.openxmlformats.org/officeDocument/2006/relationships/notesMaster" Target="/ppt/notesMasters/notesMaster1.xml" Id="R658f83fa36244b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a234675a4f4d1e" /><Relationship Type="http://schemas.openxmlformats.org/officeDocument/2006/relationships/notesMaster" Target="/ppt/notesMasters/notesMaster1.xml" Id="R388583ea8a8248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e5afe874684afa" /><Relationship Type="http://schemas.openxmlformats.org/officeDocument/2006/relationships/notesMaster" Target="/ppt/notesMasters/notesMaster1.xml" Id="R0124dd901eb64b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58f16b053a4987" /><Relationship Type="http://schemas.openxmlformats.org/officeDocument/2006/relationships/notesMaster" Target="/ppt/notesMasters/notesMaster1.xml" Id="Rb5ed74398a4b4c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992686fb1a4bb5" /><Relationship Type="http://schemas.openxmlformats.org/officeDocument/2006/relationships/notesMaster" Target="/ppt/notesMasters/notesMaster1.xml" Id="Rbb14c2a1fc084c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00ad21c3484c69" /><Relationship Type="http://schemas.openxmlformats.org/officeDocument/2006/relationships/notesMaster" Target="/ppt/notesMasters/notesMaster1.xml" Id="R0ba56d69057042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46a044561b46c6" /><Relationship Type="http://schemas.openxmlformats.org/officeDocument/2006/relationships/notesMaster" Target="/ppt/notesMasters/notesMaster1.xml" Id="R91a5def186f14f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7d29c92d23e43bf" /><Relationship Type="http://schemas.openxmlformats.org/officeDocument/2006/relationships/notesMaster" Target="/ppt/notesMasters/notesMaster1.xml" Id="R8742a83bf11d46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983eabc7c4463f" /><Relationship Type="http://schemas.openxmlformats.org/officeDocument/2006/relationships/notesMaster" Target="/ppt/notesMasters/notesMaster1.xml" Id="Red64d1ad6c234d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com a resposta, não com a tecnologia: o CSV é útil para análise pontual; a API é necessária para acompanhar o que muda depois da exportação. Reforce desde o início que o pedido é leitura filtrada, não acesso irrestrito.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Frase para repetir nas três reuniões: 'Não precisamos de mais uma planilha; precisamos saber o que aconteceu com a OS depois que a planilha foi gerada.' A própria Oracle oferece consulta de atividades e eventos de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- https://docs.oracle.com/en/cloud/saas/field-service/cxfsc/api-core-events.html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A transcrição reforça a mensagem principal: não deve existir um operador baixando planilha e importando banco. A prioridade operacional é automatizar a baixa completa, com os inventários vinculados à atividade.
[Sources]
- https://docs.oracle.com/en/cloud/saas/field-service/cxfsc/api-core-activities-activity-inventories.html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exemplo quando perguntarem por que não basta exportar às 9h, 13h e 16h20. Esses horários reduzem a defasagem, mas não revelam automaticamente mudanças entre um lote e outro, nem garantem o último desfecho da janela.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https://docs.oracle.com/en/cloud/saas/field-service/cxfsc/OFSC_Supported_Events_Types.html</a:t>
            </a:r>
          </a:p>
          <a:p xmlns:a="http://schemas.openxmlformats.org/drawingml/2006/main">
            <a:r>
              <a:t>- https://docs.oracle.com/en/cloud/saas/field-service/cxfsc/OFSC_Activity_Events.html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desvalorize o CSV: ele continua útil para carga, conciliação e contingência. A limitação é temporal. Repetir exportações cria várias fotografias, não um fluxo oficial de mudanças.</a:t>
            </a:r>
          </a:p>
          <a:p xmlns:a="http://schemas.openxmlformats.org/drawingml/2006/main">
            <a:r>
              <a:t>
Sem os inventários da atividade, a automação pode conhecer o código de baixa e ainda assim não saber quais materiais devem entrar na transação do Imperium. O ganho central é remover a ação manual recorrente.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áudio menciona o caso de uma etapa baixada dentro da janela e outra concluída depois, além de rotas calculadas por coordenadas que representam uma possibilidade, não o caminho real. Use isso para explicar por que TEC1 e quilometragem não devem ser prometidos sem definição oficial dos marcos.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C:/Users/User/Downloads/Nova Gravação 5.m4a.mp4 — gravação fornecida pelo usuário</a:t>
            </a:r>
          </a:p>
          <a:p xmlns:a="http://schemas.openxmlformats.org/drawingml/2006/main">
            <a:r>
              <a:t>- C:/Users/User/Downloads/Nova Gravação 6.m4a.mp4 — gravação fornecida pelo usuário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pedirem para reduzir ainda mais, mantenha os IDs, tipo, recurso, status, agenda, eventos, baixa e observação. O rótulo exato do código de baixa e da observação pode ser propriedade customizada; deve ser validado com o administrador do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- https://docs.oracle.com/en/cloud/saas/field-service/cxfsc/op-rest-ofscmetadata-v1-activitytypes-get.html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Inventário é requisito de primeira classe: itens serializados precisam de serial; itens não serializados precisam de quantidade. Todos devem permanecer vinculados ao activityId/OS.
[Sources]
- https://docs.oracle.com/en/cloud/saas/field-service/cxfsc/op-rest-ofsccore-v1-activities-activityid-installedinventories-get.html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Relacione cada item a um problema atual. No WhatsApp: quando o contrato chega e o TOA ainda não tem código, guardar em JSON/fila e consultar novamente a cada 5 minutos; ao encontrar, usar também a observação do técnico. A API elimina a dependência da tela e deixa o processo auditável.</a:t>
            </a:r>
          </a:p>
          <a:p xmlns:a="http://schemas.openxmlformats.org/drawingml/2006/main">
            <a:r>
              <a:t>
Este é o slide mais importante da revisão. A Oracle expõe inventários instalados, desinstalados e de cliente por atividade. Os eventos informam inventoryType, serialNumber, quantity, activityId e exchangedInventoryId. Isso cobre equipamento e miscelânea sem exigir dados pessoais do cliente.
[Sources]
- https://docs.oracle.com/en/cloud/saas/field-service/cxfsc/api-core-activities-activity-inventories.html
- https://docs.oracle.com/en/cloud/saas/field-service/cxfsc/OFSC_Inventory_Events.html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Recomendação técnica: usar eventos como fonte principal de mudança e a consulta de atividades para carga inicial, fallback e conciliação. A documentação da Oracle alerta que consultas podem, em alguns casos, não refletir imediatamente atividades recém-criadas ou atualizadas; isso reforça a reconciliação e a trilha de eventos.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https://docs.oracle.com/en/cloud/saas/field-service/cxfsc/op-rest-ofsccore-v1-events-subscriptions-post.html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- https://docs.oracle.com/en/cloud/saas/field-service/cxfsc/OFSC_Receiving_Events.html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A API Oracle pode ser a fonte sem ser entregue de forma bruta ao DOMINIUM. A Claro pode publicar uma camada, view ou serviço filtrado com apenas os campos aprovados. Carga inicial: consultar atividade e installedInventories/deinstalledInventories. Atualização: eventos ou polling incremental.
[Sources]
- https://docs.oracle.com/en/cloud/saas/field-service/cxfsc/OFSC_Inventory_Events.html
- https://docs.oracle.com/en/cloud/saas/field-service/cxfsc/OFSC_Receiving_Events.html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Relacione cada item a um problema atual. No WhatsApp: quando o contrato chega e o TOA ainda não tem código, guardar em JSON/fila e consultar novamente a cada 5 minutos; ao encontrar, usar também a observação do técnico. A API elimina a dependência da tela e deixa o processo auditável.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Traduza o SQL assim. Só entram atividades concluídas ou não concluídas, com tipo e data válidos. A revisita marca a atividade anterior como ofensora quando existe uma atividade posterior dentro do prazo. Explique que uma exportação antiga não conhece a visita que ainda será criada.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Regra SQL fn_calc_revisita fornecida pelo usuário nesta tarefa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aumenta credibilidade. A documentação define startTime como estimativa de chegada em pending e início real em started/completed; portanto, misturar estados pode distorcer o indicador. A gravação também destaca que a regra teórica e o comportamento prático podem divergir.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C:/Users/User/Downloads/Nova Gravação 5.m4a.mp4 — gravação fornecida pelo usuário</a:t>
            </a:r>
          </a:p>
          <a:p xmlns:a="http://schemas.openxmlformats.org/drawingml/2006/main">
            <a:r>
              <a:t>- C:/Users/User/Downloads/Nova Gravação 6.m4a.mp4 — gravação fornecida pelo usuário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Use a linguagem do usuário: materiais e equipamentos são quase essenciais para a baixa; TEC1, rota, produtividade e revisita ajudam adesão, gestão e indicadores, mas não devem disputar prioridade com o fluxo operacional.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use a expressão 'segurança nível NASA'. Use controles verificáveis. A Oracle permite selecionar APIs/métodos, restringir recursos e endereços IP. A proposta inicial é read-only. Qualquer escrita futura deve ter nova aprovação separada.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https://docs.oracle.com/en/cloud/saas/field-service/cxfsc/OFSC_Authenticate_and_Authorize.html</a:t>
            </a:r>
          </a:p>
          <a:p xmlns:a="http://schemas.openxmlformats.org/drawingml/2006/main">
            <a:r>
              <a:t>- https://owasp.org/API-Security/editions/2023/en/0x10-api-security-risks/</a:t>
            </a:r>
          </a:p>
          <a:p xmlns:a="http://schemas.openxmlformats.org/drawingml/2006/main">
            <a:r>
              <a:t>- https://www.nist.gov/publications/zero-trust-architecture-0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A principal objeção levantada na conversa foi LGPD. A resposta é minimização na origem: o consumidor não recebe o payload completo da Oracle; recebe um contrato filtrado, com credencial própria, auditoria, limites e revogação.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pedindo uma decisão pequena e reversível: piloto de leitura. Sugestão de êxito: percentual de eventos conciliados, atraso médio de atualização, divergências de status/código e quantidade de revisitas detectadas corretamente.</a:t>
            </a:r>
          </a:p>
          <a:p xmlns:a="http://schemas.openxmlformats.org/drawingml/2006/main">
            <a:r>
              <a:t>
A decisão solicitada não precisa ser 'entregar a API Oracle inteira'. Pode ser autorizar o desenho técnico de uma interface específica e avaliar custo/viabilidade. O piloto continua somente leitura; basta consultar inventários por atividade e receber seus eventos.
[Sources]
- https://docs.oracle.com/en/cloud/saas/field-service/cxfsc/api-core-activities-activity-inventories.html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este payload apenas para alinhar semântica. Não apresente os nomes close.code ou technicianObservation como nomes oficiais da Oracle: código de baixa e observação podem ser propriedades customizadas do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https://docs.oracle.com/en/cloud/saas/field-service/cxfsc/op-rest-ofsccore-v1-activities-get.html</a:t>
            </a:r>
          </a:p>
          <a:p xmlns:a="http://schemas.openxmlformats.org/drawingml/2006/main">
            <a:r>
              <a:t>- https://docs.oracle.com/en/cloud/saas/field-service/cxfsc/op-rest-ofsccore-v1-events-subscriptions-get.html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Os nomes do envelope inventories/action são ilustrativos para o DOMINIUM. Os campos de origem confirmados pela Oracle incluem inventoryId, inventoryType, serialNumber, quantity, status, activityId, resourceId e exchangedInventoryId.
[Sources]
- https://docs.oracle.com/en/cloud/saas/field-service/cxfsc/op-rest-ofsccore-v1-activities-activityid-installedinventories-get.html
- https://docs.oracle.com/en/cloud/saas/field-service/cxfsc/OFSC_Inventory_Events.html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André quer ver utilidade. Nathan vai querer consistência do indicador e governança. Quem libera a API precisa ouvir limites, segurança, volume e reversibilidade. Não mude a proposta; mude a ênfase.</a:t>
            </a:r>
          </a:p>
          <a:p xmlns:a="http://schemas.openxmlformats.org/drawingml/2006/main">
            <a:r>
              <a:t>
Para André, mostre o que impede a baixa. Para Nathan, mostre consistência e rastreabilidade do material por OS. Para o autorizador, peça Activity Inventories e Inventory Events em leitura filtrada.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2b28135c346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bcf9b115d548ed" /><Relationship Type="http://schemas.openxmlformats.org/officeDocument/2006/relationships/slideLayout" Target="/ppt/slideLayouts/slideLayout1.xml" Id="Rc7554e749c7345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554e749c7345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99f6e94694372" /><Relationship Type="http://schemas.openxmlformats.org/officeDocument/2006/relationships/notesSlide" Target="/ppt/notesSlides/notesSlide1.xml" Id="Rbfa41929d01f49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8085c4dfa4c56" /><Relationship Type="http://schemas.openxmlformats.org/officeDocument/2006/relationships/notesSlide" Target="/ppt/notesSlides/notesSlide2.xml" Id="R6d20203c7ae545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bf5e4263540fc" /><Relationship Type="http://schemas.openxmlformats.org/officeDocument/2006/relationships/notesSlide" Target="/ppt/notesSlides/notesSlide3.xml" Id="Ra2aee40cf4d847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872d1c1ff4a70" /><Relationship Type="http://schemas.openxmlformats.org/officeDocument/2006/relationships/notesSlide" Target="/ppt/notesSlides/notesSlide4.xml" Id="R800f70ae3d934f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3623da0bb4432" /><Relationship Type="http://schemas.openxmlformats.org/officeDocument/2006/relationships/notesSlide" Target="/ppt/notesSlides/notesSlide5.xml" Id="Rc0eb63d95e0743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ff2c2d7604b27" /><Relationship Type="http://schemas.openxmlformats.org/officeDocument/2006/relationships/notesSlide" Target="/ppt/notesSlides/notesSlide6.xml" Id="R39fb371528024c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bcf9957544920" /><Relationship Type="http://schemas.openxmlformats.org/officeDocument/2006/relationships/notesSlide" Target="/ppt/notesSlides/notesSlide7.xml" Id="R8dd9c6a8094f4d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f27efcd2647bc" /><Relationship Type="http://schemas.openxmlformats.org/officeDocument/2006/relationships/notesSlide" Target="/ppt/notesSlides/notesSlide8.xml" Id="R138a632a95d147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29084e5b24500" /><Relationship Type="http://schemas.openxmlformats.org/officeDocument/2006/relationships/notesSlide" Target="/ppt/notesSlides/notesSlide9.xml" Id="Rf8c2e8070d8b4e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fa42a2d2d4236" /><Relationship Type="http://schemas.openxmlformats.org/officeDocument/2006/relationships/notesSlide" Target="/ppt/notesSlides/notesSlide10.xml" Id="Rbcc0d50eb4944d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784937fa24c50" /><Relationship Type="http://schemas.openxmlformats.org/officeDocument/2006/relationships/notesSlide" Target="/ppt/notesSlides/notesSlide11.xml" Id="R9f610494c5c342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b66e29b6846d9" /><Relationship Type="http://schemas.openxmlformats.org/officeDocument/2006/relationships/notesSlide" Target="/ppt/notesSlides/notesSlide12.xml" Id="Rff7b2a6c536847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92ae1f0784d42" /><Relationship Type="http://schemas.openxmlformats.org/officeDocument/2006/relationships/notesSlide" Target="/ppt/notesSlides/notesSlide13.xml" Id="R0e86c1045e374e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1fadb123f485b" /><Relationship Type="http://schemas.openxmlformats.org/officeDocument/2006/relationships/notesSlide" Target="/ppt/notesSlides/notesSlide14.xml" Id="R23de1fb1ddaa41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bdf4b548848dc" /><Relationship Type="http://schemas.openxmlformats.org/officeDocument/2006/relationships/notesSlide" Target="/ppt/notesSlides/notesSlide15.xml" Id="R2d97dee839dc47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2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88515-F281-4C25-9607-8B08FAF6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0A800-34B0-4954-8F28-CBACE0C3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DOMINIUM • TOA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CD41B-2166-4B48-8D39-3AACCA8E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8858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 que precisamos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 API do TOA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536D7-D48F-4A5B-96C8-DA89DD8E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62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Da fotografia do CSV ao acompanhamento oficial do ciclo da O.S.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602B3-3CD8-4531-9C4E-3AFCE3C6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24350"/>
            <a:ext cx="2476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52432"/>
          </a:solidFill>
          <a:ln xmlns:a="http://schemas.openxmlformats.org/drawingml/2006/main" w="9525">
            <a:solidFill>
              <a:srgbClr val="E524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360F1-CCDF-4FFE-A3D3-CC6AD0F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00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LEITURA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SOMENTE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1E181-AE57-4B3D-A6C8-4D28F8BC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EB2B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2B8"/>
                </a:solidFill>
                <a:latin typeface="Aptos"/>
                <a:ea typeface="Aptos"/>
                <a:cs typeface="Aptos"/>
              </a:rPr>
              <a:t>TechNet • Claro Nordeste •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528999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AE9BD-E178-43F3-B622-43BD2A64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RESPOSTA DIRETA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69F9F-9206-45AA-9CC0-1616F679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F28F7-0791-44D6-AE0F-8DDF682C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96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 CSV depende de operação manual. A API automatiza a baixa completa.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11080-534C-4528-BC5A-70A46AD1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3911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44F2D-314B-43A8-9360-C2F6D617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EXPORTAÇÃO 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A098E-ADCC-4E65-819D-BFA79853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13:00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AF3CA-CA14-4E86-9FD1-5959192B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629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Depende de alguém baixar e importar o arquivo. Entre uma extração e outra, o painel fica congelado.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26E1F-6BB0-47A8-BFE2-A2A76A20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57721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E0156-8246-4CE2-B015-7BF935C8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479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6E7E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E7E9"/>
                </a:solidFill>
                <a:latin typeface="Aptos"/>
                <a:ea typeface="Aptos"/>
                <a:cs typeface="Aptos"/>
              </a:rPr>
              <a:t>API FILTRADA / EVENTOS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97415-61E9-46ED-9DF8-E5E815E0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05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13:00 → desfecho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01D19-B784-4198-86AB-27C87C4E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338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7D9D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7D9DC"/>
                </a:solidFill>
                <a:latin typeface="Aptos"/>
                <a:ea typeface="Aptos"/>
                <a:cs typeface="Aptos"/>
              </a:rPr>
              <a:t>Atualiza automaticamente status, baixa, observação e materiais instalados/retirados, com tipo, quantidade e serial.</a:t>
            </a:r>
          </a:p>
        </p:txBody>
      </p:sp>
    </p:spTree>
    <p:extLst>
      <p:ext uri="{BB962C8B-B14F-4D97-AF65-F5344CB8AC3E}">
        <p14:creationId xmlns:p14="http://schemas.microsoft.com/office/powerpoint/2010/main" val="20562529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F13C43-BE1C-4978-B4D9-8DB8B9B0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EXEMPLO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8495D-2D01-4543-B669-220E425A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5BA2E5-C46C-468F-84FE-62B4FD5A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Uma OS da janela 13–14 muda depois da exportação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3C990-6012-415A-ABFC-A8C7457D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Sem atualização incremental, o painel não conhece o resultado nem o código de baixa.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838200" y="3219450"/>
            <a:ext cx="10429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216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EC24E-8BB6-4057-9818-7905DC60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4736A-E1B0-4DBD-A8F4-E7AEB096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13:00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5FFA5-5801-4F62-9C1F-1C720626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CSV importado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FACD7-EAC7-46F0-B730-43DF77A2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Status: pendente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Janela: 13–14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6B9AB-1191-4E0A-9CF3-48245CFF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9E23D-8E3F-4F17-8AF4-22825727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09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13:37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5D1AC-7687-46A4-A5F0-2476B632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19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Técnico inicia / move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A78D3-0812-476A-8599-9F2FF827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7672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Status e recurso podem mudar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EE1D9-CD88-4F83-A696-79BEC4AF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BAB56-435C-4207-9E3F-07C7FD6F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9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14:05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55BFE-9EF6-4BB2-95C6-2E00E42C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OS concluída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3E4BF-29DD-43E8-9DC7-EE8DDBEC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7672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Código de baixa + observação aparecem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A71A5-B9CD-4FA9-8256-7E831C83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33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DF142-8B42-401B-816C-AFBF13F4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Painel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DA9E9-3FFD-485D-8443-8BFA67F0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19500"/>
            <a:ext cx="2209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Continua em 13:00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8C131-FDC9-4C14-8433-E77C281D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76725"/>
            <a:ext cx="2209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Sem nova consulta, o desfecho é desconhecido</a:t>
            </a:r>
          </a:p>
        </p:txBody>
      </p:sp>
    </p:spTree>
    <p:extLst>
      <p:ext uri="{BB962C8B-B14F-4D97-AF65-F5344CB8AC3E}">
        <p14:creationId xmlns:p14="http://schemas.microsoft.com/office/powerpoint/2010/main" val="110131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F42ED-FE17-4804-A849-3A3D68A2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LIMITAÇÕES ATUAIS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8130D-FE47-447A-9CF0-8EC81012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FD14A-2E4E-4B89-A45C-9C138504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 que a exportação resolve — e o que ela não consegue provar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D7D21-95B8-4768-91C6-BCC6945C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3911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5F3ED"/>
          </a:solidFill>
          <a:ln xmlns:a="http://schemas.openxmlformats.org/drawingml/2006/main" w="9525">
            <a:solidFill>
              <a:srgbClr val="B9DC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26A28-F296-4C03-AA97-7BCB6971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CONSEGUE HOJE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847DA-56CC-45AC-A580-94A7CF09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0A925-CEEF-4B12-93C5-7AED9A87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314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Carregar e filtrar a lista existente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E56DF-E305-451E-B680-F23159C1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20D6D-C6A2-4E42-86A0-EB20C3D3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314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Separar por status e tipo de atividade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1B260-E576-43E3-8C8F-67482C26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D6C6B-B74E-4815-936D-F2C009B6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314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Consolidar produtividade até o horário do arquivo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9F6F1-FCB6-419A-BBB3-5C683CB5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5A3D6-8C74-4423-B323-3AE29612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4314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Cruzar materiais apenas se já vierem no arquivo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9573D-DAAA-4049-A196-98658840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62150"/>
            <a:ext cx="57721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F0BD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99B25-D7FD-409F-8F47-D3C724D1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NÃO CONSEGUE SEM NOVA FONTE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BA74E-37C8-4F6A-830B-53C5FB7B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537F2-24E5-47D4-B30F-6506D34C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Saber o que mudou depois da exportação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F7568-D181-4DBC-9769-9F4DE4AF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52C34-135A-4EB5-B4E4-32D2D02E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9565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Confirmar baixa, materiais, quantidades e seriais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735EB-AFAD-443C-B259-3639963C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C538E3-4D90-4913-8415-15D479B6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Identificar o que foi instalado e desinstalado na 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166A5-96A9-4796-A4B8-2F10F0E5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30F6B3-7E8B-4F57-BEB3-F8AB1A23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Validar troca com serial instalado + retirado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5E8423-944D-4DAA-87C2-B87F6D60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43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76A05-6C5E-444D-82BD-BBA1F621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6730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Operar 24/7 sem alguém baixar e importar planilhas</a:t>
            </a:r>
          </a:p>
        </p:txBody>
      </p:sp>
    </p:spTree>
    <p:extLst>
      <p:ext uri="{BB962C8B-B14F-4D97-AF65-F5344CB8AC3E}">
        <p14:creationId xmlns:p14="http://schemas.microsoft.com/office/powerpoint/2010/main" val="782524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19247-959E-456C-A66B-6199F13E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O QUE OS ÁUDIOS CONFIRMAM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7EF6B-03B8-4D94-8B5D-AE8D2666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54B77-9895-4308-BEAF-CB4707CF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Estimativa não é o mesmo que evidência operacional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541C2-D62E-4725-9A9F-95181014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Há atividades com mais de uma etapa. O encerramento percebido pelo técnico pode ocorrer antes da conclusão registrada da atividade/WO exportada.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181A7-2180-4604-A7E8-24F44B1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53911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E6C98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27543-D612-42D6-A671-44F7DA7A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ESTIMADO / INFERIDO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F82F9-BE83-4411-9919-BB98EE51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Janela + horário do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23E5E-3145-4342-AE1A-3D075657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Ajuda a estimar risco, deslocamento ou prazo. Não prova qual evento foi encerrado nem quando cada etapa ocorreu.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C3FA7-3636-4BBD-9192-54151BE8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38400"/>
            <a:ext cx="5772150" cy="28003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B7CB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5ED02-5BFD-4AB0-8745-552DA70B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OFICIAL / RASTREÁVEL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72C43-2570-4D74-B3DE-CC625DA4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Evento + estado + horário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43A1B-0413-4C60-9F0B-F20781AF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481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Permite distinguir em rota, início, conclusão, não concluída e movimentação — com o marco emitido pelo TOA.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A74F5-07E6-4ACA-A0B4-C2B52727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0225"/>
            <a:ext cx="11391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Conclusão: para indicador contratual, usar o evento oficial; estimativa deve ser claramente rotulada.</a:t>
            </a:r>
          </a:p>
        </p:txBody>
      </p:sp>
    </p:spTree>
    <p:extLst>
      <p:ext uri="{BB962C8B-B14F-4D97-AF65-F5344CB8AC3E}">
        <p14:creationId xmlns:p14="http://schemas.microsoft.com/office/powerpoint/2010/main" val="760224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84DA00-1225-4EED-8784-FF101316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CONTRATO MÍNIMO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610ED-2C74-46ED-966A-C48F3DF5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D144A-5596-4F6A-82C9-CF7F078F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 baixa exige estes dados — não todos os dados.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1452F-8BD8-4A93-B66F-FBA68AFD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Leitura filtrada por base/equipe/data, sem dados pessoais desnecessários.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2A1CC-D17C-4527-B7BF-409022BC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1112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2B3F9-77C9-4165-BE60-7126D55D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Grupo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5200E-BC4F-4361-9AD4-279B4458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95500"/>
            <a:ext cx="440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1112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781A0-E2E0-4652-B75D-0518FBF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417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Campos solicitados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AAB12-0480-4AFA-913D-31BAD6EC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512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1112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43804-78C5-484A-8213-E7BB982E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90750"/>
            <a:ext cx="489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 quê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E87A5-EE08-4012-9EC6-B15A3788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38D23-DD38-4FDB-B191-F93569B8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Identidade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28C55-F4CE-44EB-8DA6-3DE4782B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33650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C6407-EAF4-4472-9864-E658A0BC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098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activityId, número da OS, contrato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B61CC-CB30-4864-B0A6-DB92E0E8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47F9A6-7341-4AAC-8500-01CA4B55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Relacionar eventos e evitar duplicidade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65BF6-9C26-4B3D-AFAE-F1D9F8FB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2275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A60A5-92E2-4A49-871D-AB06CD3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384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Atividade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2C149-D63F-4BD7-98F8-1CACFA34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62275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D8E92-4B08-46C1-B4A0-014B1096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3847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código + nome oficial do tipo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701DA-2BDC-4324-B636-7F526658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CD7CA-7677-4AAA-8B0B-F63585AA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3847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Filtrar sem inventar categorias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91A421-5C94-46D4-AA21-C09EFBD3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3F9D08-20D8-4E08-86B8-2CD4C7B0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671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Operação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3B6693-5A9D-48E3-89B6-6050C7F4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90900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9CEBAA-7ABC-4282-80C3-7C5BA57E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6710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cidade/base, recurso, data e janela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9465C5-D081-4ED1-9566-A0C8CACE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B2A4F-4760-45A2-9EF9-C2F6A95B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710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Atribuição, execução e contexto operacional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D49E66-E552-4D7C-9604-DA8196E0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9525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2B2FCF-1462-48C5-A8EA-2C6D8C14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957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Inventário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C0F134-9F18-417E-80CD-136BB370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19525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078B57-BBBE-4715-9EE2-C2A4164A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9572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inventoryId/tipo, serial, quantidade e 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AFF835-D820-4A62-8AAB-CF45381D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9525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A1B5D4-AA93-4CB1-BF05-ADAF7A61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957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Instalado, retirado ou material consumido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BFACA3-0F8E-43F9-B428-79600D7F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035EB5-6110-4D87-AAD4-C23C9505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Estado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10D469-9059-487B-B9F1-0B1AC3AA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48150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D7DBEA-DBA8-4160-80B3-A42915FF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2435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status oficial + data/hora do evento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8AEAC4-8F44-47B4-95FB-153AAD78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4ABB3E-9855-4A88-80FA-6112416B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243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Pendente, em rota, iniciada, concluída etc.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DF72D9-C9EE-4433-BF9E-6C49FB39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6775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C15582-7D97-4A87-8768-D94B6DEA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529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Desfecho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242BE-52E0-49BA-AB8E-A0A594E5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76775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7F2E6A-0DE1-4C1B-AD25-66C1D4B1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5297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código/descrição da baixa + endTime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CD9BFC-37A8-40C2-B8EE-14F8347E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76775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281D03-CBE4-447B-B88B-8AFD79FB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5297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Confirmar o encerramento da OS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C3B5C0-D9C7-42BF-91D6-431272EB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A6E01F-6862-4286-BD46-B3873452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Técnico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A2CD35-0796-4A3D-A7E3-F804DF96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05400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11087D-9EEB-49FA-9C0D-A2100C2D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observação/resolução da atividade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2FA421-6FCA-4B38-8C11-B8D97B56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05400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DEA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59B305-773B-474A-96D4-B2B03630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8160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Sempre preservar o relato operacional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C95BD4-18AD-4447-933A-D4381900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34025"/>
            <a:ext cx="1866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3F09F2-629B-4203-8643-01F054BB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02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Mudança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2B5DB6-FBE8-4100-9691-189CE29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34025"/>
            <a:ext cx="4400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C420F6-4C5D-4E03-9682-C750A84C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1022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updatedAt/cursor ou sequência do evento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E7F200-5A48-4C6C-9388-B433CF82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34025"/>
            <a:ext cx="5124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FB7BB2-B2A3-4EF6-933D-F12B5DB8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102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Atualização incremental e idempotente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6B3133-5BB6-44C3-82EE-9AA0B998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Fora do escopo inicial: CPF/CNPJ, telefone, e-mail, endereço e demais dados de cliente. Nome do cliente: opcional e desligado por padrão.</a:t>
            </a:r>
          </a:p>
        </p:txBody>
      </p:sp>
    </p:spTree>
    <p:extLst>
      <p:ext uri="{BB962C8B-B14F-4D97-AF65-F5344CB8AC3E}">
        <p14:creationId xmlns:p14="http://schemas.microsoft.com/office/powerpoint/2010/main" val="1316081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17546-9D8A-4B8E-9872-55A0DC08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VALOR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C8C71-591C-4CA1-BD9C-B7114145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A9CC7-0498-4011-9F65-E580F0ED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Sem inventário da atividade, a baixa fica incompleta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1CE3D-3BA6-4362-8B3D-A9723375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E524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CE9A4-9A04-491E-B997-DE1A4AD6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EQUIPAMENTO SERIALIZADO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FADA3-1B1B-4318-8706-4ECBA589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Tipo, inventoryId e serial do equipamento instalado ou retirado.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85EE3-D805-4CF5-945E-1C4E235E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245F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397BA-3DC4-43B5-BBD3-41984766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MISCELÂNEAS E MATERIAIS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CBB1A-20FD-4592-BB4F-F0CC3540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Tipo e quantidade consumida, inclusive itens não serializados.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5591D-92DF-4BE8-9DB0-F1F42FD6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5F3ED"/>
          </a:solidFill>
          <a:ln xmlns:a="http://schemas.openxmlformats.org/drawingml/2006/main" w="9525">
            <a:solidFill>
              <a:srgbClr val="1885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27EF7-D47B-4525-9C49-378C2F69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AÇÃO NA 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70D92-1C57-42F4-811C-EE450CAC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Status installed/deinstalled e vínculo obrigatório com activityId.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E9FF2-7F8D-4A98-8005-DBAC5EB8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124E4-41ED-4ACF-B4C3-BC5E4F5D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TROCA E AUDITORIA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5161D-70A3-4A0D-AA85-4A9490AF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Relacionar instalado e retirado; exchangedInventoryId quando disponível.</a:t>
            </a:r>
          </a:p>
        </p:txBody>
      </p:sp>
    </p:spTree>
    <p:extLst>
      <p:ext uri="{BB962C8B-B14F-4D97-AF65-F5344CB8AC3E}">
        <p14:creationId xmlns:p14="http://schemas.microsoft.com/office/powerpoint/2010/main" val="1506907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72CE9-8F4A-48D1-B4B0-BC90B07D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ARQUITETURA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B9066-27CD-41DF-878C-35CE70DB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1054F-78AC-4EF6-84CA-84FA9886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Camada filtrada: atividades, inventários e eventos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066800" y="3219450"/>
            <a:ext cx="962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216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E1134-7A5F-4B18-AB8E-52179850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174AF-1D02-4F1F-8D1F-AB9D6850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14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ED804-AB01-437D-A950-52F8A18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Carga inicial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3A6FD-6757-4EF8-8E53-ACA4ECA1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Consulta mínima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por data e recursos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49B5D-75A8-4450-BB33-06E54845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01F00-C13F-49C2-8A57-F71556D0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14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5A499-D150-4FD8-8138-B7271C19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Eventos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144BA-F6AF-4210-9D5B-420E22FF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updated, moved, enroute,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started, completed, notdone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C7768-66D2-4CCB-A29D-DE37D801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4AC5B-7F2A-4371-8926-AD1536F9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14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ED304-690E-4326-9E53-79334827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DOMINIUM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E2A5F-902A-4476-90F7-45A5A885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3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Recebe apenas campos permitidos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e mantém trilha de auditoria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AB0B3-17C0-4549-AF4C-D055D597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67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6"/>
          </a:solidFill>
          <a:ln xmlns:a="http://schemas.openxmlformats.org/drawingml/2006/main" w="0">
            <a:solidFill>
              <a:srgbClr val="1112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137C28-3686-4501-ADD5-036EABFE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14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DC236-F0D3-4888-938C-8F9D076D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385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Uso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0584A-3D82-432E-8252-81A25F97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91000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Monitor, alertas, revisita,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baixa e relatórios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90FA8-64F6-449D-92CE-7D8E0953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F0BD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2F086-2257-4E13-9ED2-7D090772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Se eventos não forem liberados no piloto: polling incremental a cada 1–5 min, com updatedAt/cursor e consulta de reconciliação.</a:t>
            </a:r>
          </a:p>
        </p:txBody>
      </p:sp>
    </p:spTree>
    <p:extLst>
      <p:ext uri="{BB962C8B-B14F-4D97-AF65-F5344CB8AC3E}">
        <p14:creationId xmlns:p14="http://schemas.microsoft.com/office/powerpoint/2010/main" val="15558147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17546-9D8A-4B8E-9872-55A0DC08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VALOR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C8C71-591C-4CA1-BD9C-B7114145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A9CC7-0498-4011-9F65-E580F0ED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Depois da baixa, a mesma API entrega gestão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1CE3D-3BA6-4362-8B3D-A9723375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E524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CE9A4-9A04-491E-B997-DE1A4AD6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DESFECHO DA 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FADA3-1B1B-4318-8706-4ECBA589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Status, código de baixa e observação sem esperar a próxima planilha.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85EE3-D805-4CF5-945E-1C4E235E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F0FA"/>
          </a:solidFill>
          <a:ln xmlns:a="http://schemas.openxmlformats.org/drawingml/2006/main" w="9525">
            <a:solidFill>
              <a:srgbClr val="245FB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397BA-3DC4-43B5-BBD3-41984766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WHATSAPP COM RETENTATIVA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CBB1A-20FD-4592-BB4F-F0CC3540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Contrato sem código fica pendente e é consultado novamente até o desfecho.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5591D-92DF-4BE8-9DB0-F1F42FD6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5F3ED"/>
          </a:solidFill>
          <a:ln xmlns:a="http://schemas.openxmlformats.org/drawingml/2006/main" w="9525">
            <a:solidFill>
              <a:srgbClr val="1885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27EF7-D47B-4525-9C49-378C2F69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REVISITA CONFIÁVEL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70D92-1C57-42F4-811C-EE450CAC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Histórico completo do contrato identifica a atividade ofensora dentro da regra.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E9FF2-7F8D-4A98-8005-DBAC5EB8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124E4-41ED-4ACF-B4C3-BC5E4F5D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GESTÃO E RELATÓRIO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5161D-70A3-4A0D-AA85-4A9490AF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Produtividade, pendências e movimentações com horário e origem auditáveis.</a:t>
            </a:r>
          </a:p>
        </p:txBody>
      </p:sp>
    </p:spTree>
    <p:extLst>
      <p:ext uri="{BB962C8B-B14F-4D97-AF65-F5344CB8AC3E}">
        <p14:creationId xmlns:p14="http://schemas.microsoft.com/office/powerpoint/2010/main" val="15069077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CA01A-AE60-4C59-857C-09ABA497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REGRA DE REVISITA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5C9C3-E219-4AA7-833B-1DE818D6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F935B-1EBC-4585-A29B-35B2D3A5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 regra fica simples quando o histórico está completo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25D35-E972-4B3A-8C2F-A1931696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113919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A48871-9DB7-45ED-B1F5-BB7731C6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81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VISITA TÉCNICA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AE5B5-56F2-4E06-B988-E187EC80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3842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Visita técnica / VT CUMP especial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4333875" y="28384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45FB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28096-1EE7-4DD7-99F9-049A8FF7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193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5FB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5FB4"/>
                </a:solidFill>
                <a:latin typeface="Aptos"/>
                <a:ea typeface="Aptos"/>
                <a:cs typeface="Aptos"/>
              </a:rPr>
              <a:t>até 9 dias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817AB-B435-4DD7-B8A1-D7A8816F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33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B4"/>
          </a:solidFill>
          <a:ln xmlns:a="http://schemas.openxmlformats.org/drawingml/2006/main" w="0">
            <a:solidFill>
              <a:srgbClr val="245FB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1D6A4-23DF-4674-997D-E9450534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33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FB4"/>
          </a:solidFill>
          <a:ln xmlns:a="http://schemas.openxmlformats.org/drawingml/2006/main" w="0">
            <a:solidFill>
              <a:srgbClr val="245F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C69FB-5C7B-4FD6-9AC6-7D4A7680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384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Outra visita técnica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888663-3754-4157-8EC3-4482D71E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13919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C3AAF-8960-4ADD-A085-8E784083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05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INSTALAÇÃO / RETORNO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18457-3C86-4EB0-99E7-4D04B209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6247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Instalação ou retorno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333875" y="4762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8855B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5712D-7922-4D3D-ABB0-A0E32880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434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885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855B"/>
                </a:solidFill>
                <a:latin typeface="Aptos"/>
                <a:ea typeface="Aptos"/>
                <a:cs typeface="Aptos"/>
              </a:rPr>
              <a:t>até 29 dias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D8E9D-2B7C-44E7-9686-E37C81F1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57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55B"/>
          </a:solidFill>
          <a:ln xmlns:a="http://schemas.openxmlformats.org/drawingml/2006/main" w="0">
            <a:solidFill>
              <a:srgbClr val="1885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D7204-60AD-4056-8319-49ADBF34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577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55B"/>
          </a:solidFill>
          <a:ln xmlns:a="http://schemas.openxmlformats.org/drawingml/2006/main" w="0">
            <a:solidFill>
              <a:srgbClr val="1885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C9927-9F1F-491C-897D-6A341DEF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624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Retorno credenciada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926DD-C3A2-4AE5-A337-B805F5B5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7692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Mesmo contrato • somente atividade posterior • mesmo dia não conta • ofensor = recurso da atividade original</a:t>
            </a:r>
          </a:p>
        </p:txBody>
      </p:sp>
    </p:spTree>
    <p:extLst>
      <p:ext uri="{BB962C8B-B14F-4D97-AF65-F5344CB8AC3E}">
        <p14:creationId xmlns:p14="http://schemas.microsoft.com/office/powerpoint/2010/main" val="9026256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EEABE-00F2-4814-82E3-CD255075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ESCOPO RESPONSÁVEL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ECEC9-365B-4593-9C2C-FBB1C4E6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BAB5E-75AE-4F7F-9F86-774F49FC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Baixa e materiais são operação; TEC1 e rota são adesão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D1405-9C0E-4FED-AFE4-C416FFB1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5391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F0BD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4E130-5827-4875-B200-94352285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TEC1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6BB57-747E-4840-87EC-4F40D0F3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Fora do escopo atual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2003B-0BAA-40A4-95CA-D42DEF1D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Só volta quando Claro/TOA definir qual evento e qual etapa valem para o indicador, com horário oficial e histórico suficiente.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FEDFF-ABA7-46A2-90F5-EF96A24A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52650"/>
            <a:ext cx="57721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9525">
            <a:solidFill>
              <a:srgbClr val="E6C98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F8BB4-D71C-45D0-B4B9-D70A26CE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ROTA / QUILOMETRAGEM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DC505-73B9-4D98-A372-59F44D49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Estimativa, não trajeto real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75BA50-D815-4692-B443-AA5105C9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Duas coordenadas permitem estimar distância. Sem telemetria/pontos reais, não provam o caminho percorrido pelo técnico.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E6634-16FB-45D6-9B45-3A29A88B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Prioridade 1: baixa completa. Prioridade 2: produtividade, revisita, TEC1 e rota.</a:t>
            </a:r>
          </a:p>
        </p:txBody>
      </p:sp>
    </p:spTree>
    <p:extLst>
      <p:ext uri="{BB962C8B-B14F-4D97-AF65-F5344CB8AC3E}">
        <p14:creationId xmlns:p14="http://schemas.microsoft.com/office/powerpoint/2010/main" val="245286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D05F1-7465-4FA8-86E9-57D47FDD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SEGURANÇA E GOVERNANÇA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5682E-C3E2-4C71-B141-194CAA40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79486-18FE-4D5F-9476-5146F6A4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Não pedimos a API bruta: pedimos um recorte controlado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EF501-4AAB-40B0-B456-F5614F31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E8EA"/>
          </a:solidFill>
          <a:ln xmlns:a="http://schemas.openxmlformats.org/drawingml/2006/main" w="9525">
            <a:solidFill>
              <a:srgbClr val="E524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DD667-9AC8-40E0-8EDE-01BB464A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SOMENTE LEITURA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F1084-8208-4109-B674-76E7FA01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Apenas consultas e eventos necessários. Nenhuma alteração no TOA neste piloto.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9FEE0-8018-427E-8983-BEBDD69E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179B3-FE59-48DA-8E7F-0330A08F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CAMADA FILTRADA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72E901-E4BB-41B5-BE4E-106EA117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Somente as colunas necessárias; CPF, telefone, endereço e demais dados pessoais ficam fora.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E3A30-E06A-439F-A60E-8897D766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EC624-1C6B-4275-BB34-481B001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CREDENCIAL DA APLICAÇÃO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6B441-5BCB-4FB6-ACCF-15448656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OAuth 2.0 ou client ID/secret em cofre, rotação e restrição de IP quando disponível.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7C47C-A234-4E07-BB3E-720074B9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56007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53BDC3-CB66-40CE-88C7-F08C1B56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AUDITORIA E LIMITES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C8B07-284E-46D9-B10C-C8E45988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01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Logs sem segredo, paginação, backoff, idempotência, rate limit e revogação imediata.</a:t>
            </a:r>
          </a:p>
        </p:txBody>
      </p:sp>
    </p:spTree>
    <p:extLst>
      <p:ext uri="{BB962C8B-B14F-4D97-AF65-F5344CB8AC3E}">
        <p14:creationId xmlns:p14="http://schemas.microsoft.com/office/powerpoint/2010/main" val="20539636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2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7DD97-526C-4432-95BE-23EB20DE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11326-6914-4A8E-84BE-F24DFF54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DECISÃO SOLICITADA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3F024-884F-4E82-A8DD-3A72E471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Autorizar o desenho e piloto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 uma camada filtrada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7D7E2-2381-46B6-B97A-BABD4C0B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B4099-8C8A-457D-8B6F-930C7B17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1. Desenhar uma camada read-only sobre a fonte oficial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6E9E6-3C8B-4614-A969-934BBE7A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7CDC5-2D1D-4EC4-B17A-8BBFB6A2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2. Entregar Activities + Activity Inventories +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9A85B-40B5-441E-9FA9-DEC876B9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BF607-6401-46A4-BB3E-AB03B9E6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3. Excluir PII na origem; liberar só campos aprovados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FAF94-669B-4F82-ACF9-0AB5CD5D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48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8E84D-C4CD-4653-9009-60868B39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DBD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9DBDE"/>
                </a:solidFill>
                <a:latin typeface="Aptos"/>
                <a:ea typeface="Aptos"/>
                <a:cs typeface="Aptos"/>
              </a:rPr>
              <a:t>4. Piloto por uma base e período definido; medir e expandir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8D614-D2DB-41B7-8DA4-A086B840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 acesso irrestrito • sem escrita • sem PII desnecessária</a:t>
            </a:r>
          </a:p>
        </p:txBody>
      </p:sp>
    </p:spTree>
    <p:extLst>
      <p:ext uri="{BB962C8B-B14F-4D97-AF65-F5344CB8AC3E}">
        <p14:creationId xmlns:p14="http://schemas.microsoft.com/office/powerpoint/2010/main" val="14480699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B2F1B-F46A-438C-AE88-1FC883E0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APÊNDICE 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2456E-3B63-454B-A5A7-C5F14642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995ED-BDEB-4FB2-A1FB-00AF2957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Exemplo do payload mínimo esperado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5DDC4-E491-4B76-9CD3-510AB82B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7191E"/>
          </a:solidFill>
          <a:ln xmlns:a="http://schemas.openxmlformats.org/drawingml/2006/main" w="9525">
            <a:solidFill>
              <a:srgbClr val="17191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53C8F-3F78-4669-8338-50563966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"activityId":"123456789", "osNumber":"2649534562", "contract":"8600471",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"activityType":{"code":"...","name":"TROCA EQUIPAMENTO"},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"resource":{"id":"tec-001","name":"TÉCNICO EXEMPLO"},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"status":"completed", "eventTime":"2026-08-07T14:05:22-03:00",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"close":{"code":"409","description":"..."},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"technicianObservation":"Troca concluída; seriais conferidos.",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"inventories":[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  {"action":"installed","inventoryType":"DECODER","serialNumber":"INST-001","quantity":1},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  {"action":"deinstalled","inventoryType":"DECODER","serialNumber":"RET-001","quantity":1},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  {"action":"installed","inventoryType":"CONECTOR","serialNumber":null,"quantity":4}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  "updatedAt":"2026-08-07T14:05:22-03:00"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F2F3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F2F3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08F03-6DF0-4E92-B806-23ACAF58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1391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Nomes dos campos customizados são ilustrativos e devem ser confirmados no ambiente TOA.</a:t>
            </a:r>
          </a:p>
        </p:txBody>
      </p:sp>
    </p:spTree>
    <p:extLst>
      <p:ext uri="{BB962C8B-B14F-4D97-AF65-F5344CB8AC3E}">
        <p14:creationId xmlns:p14="http://schemas.microsoft.com/office/powerpoint/2010/main" val="16444453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5517E4-BFE7-480C-8358-C2E8DC9D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ROTEIRO DAS REUNIÕES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924D9-8F66-437A-85B2-A6E76BB5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238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6C7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00050" y="648652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D9D6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2B52E-5A3A-4E0C-BDE0-57D544B3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 mesma proposta, três conversas diferentes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F7599-A727-4142-BFD5-2DED64CB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390900" cy="38100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7D112-D5A5-4100-9F52-C6AF0323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HOJE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E199E-40D1-4ACA-AA94-B9B15D74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ANDRÉ • TECHNET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D99CB-BF6B-4E03-AAE3-0BB4964C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Baixa e materiais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1C58E-DA1B-48BE-BF28-9881B825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4853D-7F23-498F-9415-831E8CA3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481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Baixa sem inventário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FED71-CD52-4CCB-9AB1-A69BCE3F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9BF72-A25A-45F4-AF84-CB7391D2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76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Troca com dois seriais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EB5FB-9DCC-4095-850A-419437D8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2A83A-0D83-4F65-904E-3BE06652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053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Automação da baixa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1A413-AA56-40CB-8F3C-6907FEC0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4B5BC-4D3A-4D23-A292-F828C725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339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Piloto por uma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7BA7A-8771-43A0-BC3E-68824472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3390900" cy="38100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9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BF11A-AC8B-44FB-8AE2-270A4C4E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SEGUNDA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A8220-251B-4C68-AA93-8AA0E9F3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216"/>
                </a:solidFill>
                <a:latin typeface="Aptos"/>
                <a:ea typeface="Aptos"/>
                <a:cs typeface="Aptos"/>
              </a:rPr>
              <a:t>NATHAN • CLARO 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F66DC-2CA9-46CD-BB0D-81167F61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147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76C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76C74"/>
                </a:solidFill>
                <a:latin typeface="Aptos"/>
                <a:ea typeface="Aptos"/>
                <a:cs typeface="Aptos"/>
              </a:rPr>
              <a:t>Operação e governança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64129-BDA5-4170-8C2C-DA7CEE45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133841-7D43-4DC8-8FB7-6368BD2F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481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Materiais por 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8C87E-D21B-4763-975F-C7D5F00D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7F335C-7F5E-4592-91F9-4B393A5C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76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Seriais e quantidades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C91D73-E4E2-453E-9A1E-36257DC1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18DF61-7BA4-47CF-BAAE-D571C8D4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053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O que não prometer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DD198-7149-4E51-A984-9CD9E271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BE545B-4A86-4836-AAF6-A5330293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339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21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216"/>
                </a:solidFill>
                <a:latin typeface="Aptos"/>
                <a:ea typeface="Aptos"/>
                <a:cs typeface="Aptos"/>
              </a:rPr>
              <a:t>Critério de sucesso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FD585D-6168-4C66-9E22-DD10D9F1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390900" cy="38100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111216"/>
          </a:solidFill>
          <a:ln xmlns:a="http://schemas.openxmlformats.org/drawingml/2006/main" w="9525">
            <a:solidFill>
              <a:srgbClr val="11121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F91673-754F-4893-A897-D2360BBB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47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243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52432"/>
                </a:solidFill>
                <a:latin typeface="Aptos"/>
                <a:ea typeface="Aptos"/>
                <a:cs typeface="Aptos"/>
              </a:rPr>
              <a:t>TERÇA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BBC10D-DEBB-4358-A647-0DDC0C8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AUTORIZADOR DA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435F61-2388-4B02-B9A6-F873C04F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9CCD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CCD1"/>
                </a:solidFill>
                <a:latin typeface="Aptos"/>
                <a:ea typeface="Aptos"/>
                <a:cs typeface="Aptos"/>
              </a:rPr>
              <a:t>Escopo mínimo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EC5EB7-D1EA-4CB0-A160-E9A5769D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49185D-4FA5-4FFA-A2B4-216E336C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8481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Camada read-only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030C95-749C-40FC-8C04-5BBFF17D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EBB178-5F61-499B-B687-42A2293E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76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Activities + Inventory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D91ABD-C24F-45AE-B739-0FBE3678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5A0FF1-2334-4A57-AF4F-6CE020BC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053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Sem PII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190303-23FC-48C5-8F18-5B51A14B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29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2432"/>
          </a:solidFill>
          <a:ln xmlns:a="http://schemas.openxmlformats.org/drawingml/2006/main" w="0">
            <a:solidFill>
              <a:srgbClr val="E5243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325DCA-24C5-4E36-AE6C-073AD3B3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1339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Viabilidade e limites</a:t>
            </a:r>
          </a:p>
        </p:txBody>
      </p:sp>
    </p:spTree>
    <p:extLst>
      <p:ext uri="{BB962C8B-B14F-4D97-AF65-F5344CB8AC3E}">
        <p14:creationId xmlns:p14="http://schemas.microsoft.com/office/powerpoint/2010/main" val="984442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2026-08-07T20:35:36.6400000Z</dcterms:created>
  <dcterms:modified xsi:type="dcterms:W3CDTF">2026-08-07T20:35:36.6400000Z</dcterms:modified>
</coreProperties>
</file>